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fe3a97a-5ccc-af08-f2f1-678918d04e71}">
          <p14:sldIdLst>
            <p14:sldId id="256"/>
            <p14:sldId id="257"/>
          </p14:sldIdLst>
        </p14:section>
        <p14:section name="Problem" id="{cbc49534-642f-e47b-257d-bac6f0a8c869}">
          <p14:sldIdLst>
            <p14:sldId id="258"/>
          </p14:sldIdLst>
        </p14:section>
        <p14:section name="Data" id="{847f4678-300c-a6d2-bbb4-93a37fbb698f}">
          <p14:sldIdLst>
            <p14:sldId id="259"/>
            <p14:sldId id="260"/>
          </p14:sldIdLst>
        </p14:section>
        <p14:section name="Models" id="{fb43ec52-3ced-6a7c-7e47-7ed3b18a5391}">
          <p14:sldIdLst>
            <p14:sldId id="261"/>
          </p14:sldIdLst>
        </p14:section>
        <p14:section name="Results" id="{44cd3ccb-2ec3-897f-67f8-1281d0e008b2}">
          <p14:sldIdLst>
            <p14:sldId id="262"/>
            <p14:sldId id="263"/>
            <p14:sldId id="264"/>
          </p14:sldIdLst>
        </p14:section>
        <p14:section name="Application" id="{b1085fb5-f62c-065b-e0af-ebdb5693682b}">
          <p14:sldIdLst>
            <p14:sldId id="265"/>
          </p14:sldIdLst>
        </p14:section>
        <p14:section name="Wrap-up" id="{e4ff399c-db80-4f86-7974-0f0691ec80e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+mn-lt"/>
              </a:rPr>
              <a:t>70 / 15 / 15 split (5,000 images)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284C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Train 3,500</c:v>
                </c:pt>
                <c:pt idx="1">
                  <c:v>Validation 750</c:v>
                </c:pt>
                <c:pt idx="2">
                  <c:v>Test 750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3500</c:v>
                </c:pt>
                <c:pt idx="1">
                  <c:v>750</c:v>
                </c:pt>
                <c:pt idx="2">
                  <c:v>750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F172A"/>
                </a:solidFill>
                <a:latin typeface="+mn-lt"/>
              </a:rPr>
              <a:t>Validation accuracy (%) by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 CNN (val)</c:v>
                </c:pt>
              </c:strCache>
            </c:strRef>
          </c:tx>
          <c:spPr>
            <a:solidFill>
              <a:srgbClr val="059669"/>
            </a:solidFill>
            <a:ln w="381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89.47</c:v>
                </c:pt>
                <c:pt idx="1">
                  <c:v>95.6</c:v>
                </c:pt>
                <c:pt idx="2">
                  <c:v>92.8</c:v>
                </c:pt>
                <c:pt idx="3">
                  <c:v>94.8</c:v>
                </c:pt>
                <c:pt idx="4">
                  <c:v>95.73</c:v>
                </c:pt>
                <c:pt idx="5">
                  <c:v>96</c:v>
                </c:pt>
                <c:pt idx="6">
                  <c:v>97.33</c:v>
                </c:pt>
                <c:pt idx="7">
                  <c:v>96.13</c:v>
                </c:pt>
                <c:pt idx="8">
                  <c:v>96</c:v>
                </c:pt>
                <c:pt idx="9">
                  <c:v>97.2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ResNet-18 (val)</c:v>
                </c:pt>
              </c:strCache>
            </c:strRef>
          </c:tx>
          <c:spPr>
            <a:solidFill>
              <a:srgbClr val="D97706"/>
            </a:solidFill>
            <a:ln w="381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90.93</c:v>
                </c:pt>
                <c:pt idx="1">
                  <c:v>91.33</c:v>
                </c:pt>
                <c:pt idx="2">
                  <c:v>94</c:v>
                </c:pt>
                <c:pt idx="3">
                  <c:v>94.8</c:v>
                </c:pt>
                <c:pt idx="4">
                  <c:v>95.07</c:v>
                </c:pt>
                <c:pt idx="5">
                  <c:v>95.33</c:v>
                </c:pt>
                <c:pt idx="6">
                  <c:v>94.93</c:v>
                </c:pt>
                <c:pt idx="7">
                  <c:v>94.13</c:v>
                </c:pt>
                <c:pt idx="8">
                  <c:v>95.47</c:v>
                </c:pt>
                <c:pt idx="9">
                  <c:v>96.27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4748B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4748B"/>
                    </a:solidFill>
                    <a:latin typeface="+mn-lt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6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E29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F172A"/>
                </a:solidFill>
                <a:latin typeface="+mn-lt"/>
              </a:rPr>
              <a:t>Test accuracy (%), 750 held-out images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Custom CNN</c:v>
                  </c:pt>
                  <c:pt idx="1">
                    <c:v>ResNet-18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96.53</c:v>
                </c:pt>
                <c:pt idx="1">
                  <c:v>94.13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6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FloraScan AI classifies tomato leaf health using two deep learning models and a Streamlit app. Headline result: 96.53% test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parts. Cards are clickable during slideshow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disease is costly and diagnosis does not scale. FloraScan AI is the answer; the four numbers on the right preview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class balance and why 1,000 per class. Mention that Not Leaf is synthetic, created programmatically.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full workflow, then explain preprocessing and the reasoning behind the synthetic class. Be candid that the synthetic images are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two. The custom CNN is shallow but has a big fully connected layer, so it is not parameter-light. ResNet-18 trains only its last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CNN peaks at 97.33% validation at epoch 7. ResNet-18 improves steadily and peaks at 96.27% at epoch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 errors versus 44, about a 41% reduction. Be clear that this is one random split; no confusion matrix was computed.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interpretation, and be upfront that fine-tuning ResNet is a natural follow-up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tip: upload a leaf, switch between the three engine modes, then try a non-leaf image to show the Unrecognized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understand the limits. This strengthens the project rather than weakening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result,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F172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6428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FloraScan AI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28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Asad Ali Sajjad  |  SU92-BSCSM-F23-167  |  BSCS-7A  |  Deep Learning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4" Type="http://schemas.openxmlformats.org/officeDocument/2006/relationships/slide" Target="slide4.xml"/><Relationship Id="rId6" Type="http://schemas.openxmlformats.org/officeDocument/2006/relationships/slide" Target="slide6.xml"/><Relationship Id="rId8" Type="http://schemas.openxmlformats.org/officeDocument/2006/relationships/slide" Target="slide8.xml"/><Relationship Id="rId10" Type="http://schemas.openxmlformats.org/officeDocument/2006/relationships/slide" Target="slide10.xml"/><Relationship Id="rId12" Type="http://schemas.openxmlformats.org/officeDocument/2006/relationships/slide" Target="slide11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image" Target="../media/image-2-3.png"/><Relationship Id="rId7" Type="http://schemas.openxmlformats.org/officeDocument/2006/relationships/image" Target="../media/image-2-4.png"/><Relationship Id="rId9" Type="http://schemas.openxmlformats.org/officeDocument/2006/relationships/image" Target="../media/image-2-5.png"/><Relationship Id="rId11" Type="http://schemas.openxmlformats.org/officeDocument/2006/relationships/image" Target="../media/image-2-6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chart" Target="/ppt/charts/chart1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7" Type="http://schemas.openxmlformats.org/officeDocument/2006/relationships/image" Target="../media/image-10-6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1"/>
          <p:cNvSpPr/>
          <p:nvPr/>
        </p:nvSpPr>
        <p:spPr>
          <a:xfrm>
            <a:off x="7863840" y="-2103120"/>
            <a:ext cx="6766560" cy="676656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Deco 2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Deco 3"/>
          <p:cNvSpPr/>
          <p:nvPr/>
        </p:nvSpPr>
        <p:spPr>
          <a:xfrm>
            <a:off x="8686800" y="246888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|  SEMESTER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FloraScan AI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Phytopathology System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 tomato leaf disease classification using a custom CNN and a transfer-learned ResNet-18</a:t>
            </a:r>
            <a:endParaRPr lang="en-US" sz="1800" dirty="0"/>
          </a:p>
        </p:txBody>
      </p:sp>
      <p:sp>
        <p:nvSpPr>
          <p:cNvPr id="9" name="Chip bg"/>
          <p:cNvSpPr/>
          <p:nvPr/>
        </p:nvSpPr>
        <p:spPr>
          <a:xfrm>
            <a:off x="731520" y="42062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206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</a:t>
            </a:r>
            <a:endParaRPr lang="en-US" sz="1300" dirty="0"/>
          </a:p>
        </p:txBody>
      </p:sp>
      <p:sp>
        <p:nvSpPr>
          <p:cNvPr id="11" name="Chip bg"/>
          <p:cNvSpPr/>
          <p:nvPr/>
        </p:nvSpPr>
        <p:spPr>
          <a:xfrm>
            <a:off x="2313432" y="4206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13432" y="4206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images</a:t>
            </a:r>
            <a:endParaRPr lang="en-US" sz="1300" dirty="0"/>
          </a:p>
        </p:txBody>
      </p:sp>
      <p:sp>
        <p:nvSpPr>
          <p:cNvPr id="13" name="Chip bg"/>
          <p:cNvSpPr/>
          <p:nvPr/>
        </p:nvSpPr>
        <p:spPr>
          <a:xfrm>
            <a:off x="4261104" y="420624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61104" y="4206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96.53% test accuracy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349240"/>
            <a:ext cx="10725912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532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Asad Ali Sajjad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144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SU92-BSCSM-F23-167   |   BSCS-7A   |   7th Semester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5532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Munir Ahmad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6144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Deep Learning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Agenda</a:t>
            </a:r>
            <a:endParaRPr lang="en-US" sz="3400" dirty="0"/>
          </a:p>
        </p:txBody>
      </p:sp>
      <p:sp>
        <p:nvSpPr>
          <p:cNvPr id="4" name="Agenda card 01"/>
          <p:cNvSpPr/>
          <p:nvPr/>
        </p:nvSpPr>
        <p:spPr>
          <a:xfrm>
            <a:off x="548640" y="1463040"/>
            <a:ext cx="3557016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20040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>
            <a:hlinkClick r:id="rId2" tooltip="Go to The Problem" action="ppaction://hlinksldjump"/>
          </p:cNvPr>
          <p:cNvSpPr txBox="1"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Go to The Probl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Problem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leaf disease matters</a:t>
            </a:r>
            <a:endParaRPr lang="en-US" sz="1400" dirty="0"/>
          </a:p>
        </p:txBody>
      </p:sp>
      <p:sp>
        <p:nvSpPr>
          <p:cNvPr id="10" name="Agenda card 02"/>
          <p:cNvSpPr/>
          <p:nvPr/>
        </p:nvSpPr>
        <p:spPr>
          <a:xfrm>
            <a:off x="4315968" y="1463040"/>
            <a:ext cx="3557016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173736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709" y="19037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67728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>
            <a:hlinkClick r:id="rId4" tooltip="Go to Data" action="ppaction://hlinksldjump"/>
          </p:cNvPr>
          <p:cNvSpPr txBox="1"/>
          <p:nvPr/>
        </p:nvSpPr>
        <p:spPr>
          <a:xfrm>
            <a:off x="4590288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Go to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590288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and preprocessing</a:t>
            </a:r>
            <a:endParaRPr lang="en-US" sz="1400" dirty="0"/>
          </a:p>
        </p:txBody>
      </p:sp>
      <p:sp>
        <p:nvSpPr>
          <p:cNvPr id="16" name="Agenda card 03"/>
          <p:cNvSpPr/>
          <p:nvPr/>
        </p:nvSpPr>
        <p:spPr>
          <a:xfrm>
            <a:off x="8083296" y="1463040"/>
            <a:ext cx="3557016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173736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037" y="190378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735056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>
            <a:hlinkClick r:id="rId6" tooltip="Go to Models" action="ppaction://hlinksldjump"/>
          </p:cNvPr>
          <p:cNvSpPr txBox="1"/>
          <p:nvPr/>
        </p:nvSpPr>
        <p:spPr>
          <a:xfrm>
            <a:off x="8357616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Go to Mode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Models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357616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vs ResNet-18</a:t>
            </a:r>
            <a:endParaRPr lang="en-US" sz="1400" dirty="0"/>
          </a:p>
        </p:txBody>
      </p:sp>
      <p:sp>
        <p:nvSpPr>
          <p:cNvPr id="22" name="Agenda card 04"/>
          <p:cNvSpPr/>
          <p:nvPr/>
        </p:nvSpPr>
        <p:spPr>
          <a:xfrm>
            <a:off x="548640" y="3794760"/>
            <a:ext cx="3557016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1" y="423550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20040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>
            <a:hlinkClick r:id="rId8" tooltip="Go to Results" action="ppaction://hlinksldjump"/>
          </p:cNvPr>
          <p:cNvSpPr txBox="1"/>
          <p:nvPr/>
        </p:nvSpPr>
        <p:spPr>
          <a:xfrm>
            <a:off x="82296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Go to Resul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276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evaluation</a:t>
            </a:r>
            <a:endParaRPr lang="en-US" sz="1400" dirty="0"/>
          </a:p>
        </p:txBody>
      </p:sp>
      <p:sp>
        <p:nvSpPr>
          <p:cNvPr id="28" name="Agenda card 05"/>
          <p:cNvSpPr/>
          <p:nvPr/>
        </p:nvSpPr>
        <p:spPr>
          <a:xfrm>
            <a:off x="4315968" y="3794760"/>
            <a:ext cx="3557016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90288" y="406908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6709" y="423550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67728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25">
            <a:hlinkClick r:id="rId10" tooltip="Go to Application" action="ppaction://hlinksldjump"/>
          </p:cNvPr>
          <p:cNvSpPr txBox="1"/>
          <p:nvPr/>
        </p:nvSpPr>
        <p:spPr>
          <a:xfrm>
            <a:off x="4590288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Go to Appl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</a:t>
            </a:r>
            <a:endParaRPr lang="en-US" sz="2200" dirty="0"/>
          </a:p>
        </p:txBody>
      </p:sp>
      <p:sp>
        <p:nvSpPr>
          <p:cNvPr id="33" name="Text 26"/>
          <p:cNvSpPr txBox="1"/>
          <p:nvPr/>
        </p:nvSpPr>
        <p:spPr>
          <a:xfrm>
            <a:off x="4590288" y="5276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system and safety</a:t>
            </a:r>
            <a:endParaRPr lang="en-US" sz="1400" dirty="0"/>
          </a:p>
        </p:txBody>
      </p:sp>
      <p:sp>
        <p:nvSpPr>
          <p:cNvPr id="34" name="Agenda card 06"/>
          <p:cNvSpPr/>
          <p:nvPr/>
        </p:nvSpPr>
        <p:spPr>
          <a:xfrm>
            <a:off x="8083296" y="3794760"/>
            <a:ext cx="3557016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57616" y="406908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4037" y="4235501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735056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Text 30">
            <a:hlinkClick r:id="rId12" tooltip="Go to Outlook" action="ppaction://hlinksldjump"/>
          </p:cNvPr>
          <p:cNvSpPr txBox="1"/>
          <p:nvPr/>
        </p:nvSpPr>
        <p:spPr>
          <a:xfrm>
            <a:off x="8357616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Go to Outloo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Outlook</a:t>
            </a:r>
            <a:endParaRPr lang="en-US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8357616" y="5276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future work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card to jump to that section.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Nav link">
            <a:hlinkClick r:id="rId1" tooltip="Back to agenda" action="ppaction://hlinksldjump"/>
          </p:cNvPr>
          <p:cNvSpPr txBox="1"/>
          <p:nvPr/>
        </p:nvSpPr>
        <p:spPr>
          <a:xfrm>
            <a:off x="10149840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059669"/>
                </a:solidFill>
                <a:hlinkClick r:id="rId1" action="ppaction://hlinksldjump" tooltip="Back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Crop disease is costly, and diagnosis is slow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77240" cy="777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7108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4904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yield loss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65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Pests and diseases are estimated by the FAO to cost agriculture roughly 20 to 40 percent of potential yield.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777240" cy="777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26532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0449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subjective diagnosis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520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inspection does not scale, and early symptoms are easy to miss.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481980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5994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accessible AI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photo of one leaf can carry enough signal for instant, low-cost screening.</a:t>
            </a:r>
            <a:endParaRPr lang="en-US" sz="1500" dirty="0"/>
          </a:p>
        </p:txBody>
      </p:sp>
      <p:sp>
        <p:nvSpPr>
          <p:cNvPr id="17" name="Solution panel"/>
          <p:cNvSpPr/>
          <p:nvPr/>
        </p:nvSpPr>
        <p:spPr>
          <a:xfrm>
            <a:off x="6949440" y="1417320"/>
            <a:ext cx="4690872" cy="4617720"/>
          </a:xfrm>
          <a:prstGeom prst="roundRect">
            <a:avLst>
              <a:gd name="adj" fmla="val 297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2694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FLORASCAN AI SOLUTION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269480" y="205740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pipeline: curate data, train two models, deploy a guarded web app.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26948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96.53%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937260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94.13%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937260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7269480" y="4526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600" dirty="0"/>
          </a:p>
        </p:txBody>
      </p:sp>
      <p:sp>
        <p:nvSpPr>
          <p:cNvPr id="25" name="Text 20"/>
          <p:cNvSpPr txBox="1"/>
          <p:nvPr/>
        </p:nvSpPr>
        <p:spPr>
          <a:xfrm>
            <a:off x="7269480" y="5184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images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9372600" y="4526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600" dirty="0"/>
          </a:p>
        </p:txBody>
      </p:sp>
      <p:sp>
        <p:nvSpPr>
          <p:cNvPr id="27" name="Text 22"/>
          <p:cNvSpPr txBox="1"/>
          <p:nvPr/>
        </p:nvSpPr>
        <p:spPr>
          <a:xfrm>
            <a:off x="9372600" y="5184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threshold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Nav link">
            <a:hlinkClick r:id="rId1" tooltip="Back to agenda" action="ppaction://hlinksldjump"/>
          </p:cNvPr>
          <p:cNvSpPr txBox="1"/>
          <p:nvPr/>
        </p:nvSpPr>
        <p:spPr>
          <a:xfrm>
            <a:off x="10149840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059669"/>
                </a:solidFill>
                <a:hlinkClick r:id="rId1" action="ppaction://hlinksldjump" tooltip="Back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A balanced five-class dataset</a:t>
            </a:r>
            <a:endParaRPr lang="en-US" sz="3400" dirty="0"/>
          </a:p>
        </p:txBody>
      </p:sp>
      <p:sp>
        <p:nvSpPr>
          <p:cNvPr id="5" name="Class card 1"/>
          <p:cNvSpPr/>
          <p:nvPr/>
        </p:nvSpPr>
        <p:spPr>
          <a:xfrm>
            <a:off x="548640" y="1417320"/>
            <a:ext cx="65836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6420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50876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Healthy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50876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green tissue, no lesions</a:t>
            </a:r>
            <a:endParaRPr lang="en-US" sz="1350" dirty="0"/>
          </a:p>
        </p:txBody>
      </p:sp>
      <p:sp>
        <p:nvSpPr>
          <p:cNvPr id="9" name="Class card 2"/>
          <p:cNvSpPr/>
          <p:nvPr/>
        </p:nvSpPr>
        <p:spPr>
          <a:xfrm>
            <a:off x="548640" y="2313432"/>
            <a:ext cx="65836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60320"/>
            <a:ext cx="274320" cy="2743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24048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Spot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40487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water-soaked spots, yellow halos</a:t>
            </a:r>
            <a:endParaRPr lang="en-US" sz="1350" dirty="0"/>
          </a:p>
        </p:txBody>
      </p:sp>
      <p:sp>
        <p:nvSpPr>
          <p:cNvPr id="13" name="Class card 3"/>
          <p:cNvSpPr/>
          <p:nvPr/>
        </p:nvSpPr>
        <p:spPr>
          <a:xfrm>
            <a:off x="548640" y="3209544"/>
            <a:ext cx="65836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456432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330098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30098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Target-like concentric rings</a:t>
            </a:r>
            <a:endParaRPr lang="en-US" sz="1350" dirty="0"/>
          </a:p>
        </p:txBody>
      </p:sp>
      <p:sp>
        <p:nvSpPr>
          <p:cNvPr id="17" name="Class card 4"/>
          <p:cNvSpPr/>
          <p:nvPr/>
        </p:nvSpPr>
        <p:spPr>
          <a:xfrm>
            <a:off x="548640" y="4105656"/>
            <a:ext cx="65836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35254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419709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19709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Grey-green water-mold lesions</a:t>
            </a:r>
            <a:endParaRPr lang="en-US" sz="1350" dirty="0"/>
          </a:p>
        </p:txBody>
      </p:sp>
      <p:sp>
        <p:nvSpPr>
          <p:cNvPr id="21" name="Class card 5"/>
          <p:cNvSpPr/>
          <p:nvPr/>
        </p:nvSpPr>
        <p:spPr>
          <a:xfrm>
            <a:off x="548640" y="5001768"/>
            <a:ext cx="65836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248656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80160" y="50932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Leaf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509320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synthetic images: noise, shapes, gradients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43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images per class: four from PlantVillage (20,638 raw images), one synthetic</a:t>
            </a:r>
            <a:endParaRPr lang="en-US" sz="12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498080" y="1325880"/>
          <a:ext cx="4114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7498080" y="5349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random split (seed 42)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Nav link">
            <a:hlinkClick r:id="rId1" tooltip="Back to agenda" action="ppaction://hlinksldjump"/>
          </p:cNvPr>
          <p:cNvSpPr txBox="1"/>
          <p:nvPr/>
        </p:nvSpPr>
        <p:spPr>
          <a:xfrm>
            <a:off x="10149840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059669"/>
                </a:solidFill>
                <a:hlinkClick r:id="rId1" action="ppaction://hlinksldjump" tooltip="Back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From raw images to model input</a:t>
            </a:r>
            <a:endParaRPr lang="en-US" sz="3400" dirty="0"/>
          </a:p>
        </p:txBody>
      </p:sp>
      <p:pic>
        <p:nvPicPr>
          <p:cNvPr id="5" name="Workflow diagram" descr="img/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1672" cy="2451002"/>
          </a:xfrm>
          <a:prstGeom prst="rect">
            <a:avLst/>
          </a:prstGeom>
        </p:spPr>
      </p:pic>
      <p:sp>
        <p:nvSpPr>
          <p:cNvPr id="6" name="Preprocessing card"/>
          <p:cNvSpPr/>
          <p:nvPr/>
        </p:nvSpPr>
        <p:spPr>
          <a:xfrm>
            <a:off x="548640" y="3520440"/>
            <a:ext cx="544068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89168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Resize to 224 x 224 RGB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Train: random flip and rotation up to 15 degrees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Val and test: resize only, fully deterministic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ImageNet mean and standard deviation normalisation</a:t>
            </a:r>
            <a:endParaRPr lang="en-US" sz="1500" dirty="0"/>
          </a:p>
        </p:txBody>
      </p:sp>
      <p:sp>
        <p:nvSpPr>
          <p:cNvPr id="11" name="Not Leaf card"/>
          <p:cNvSpPr/>
          <p:nvPr/>
        </p:nvSpPr>
        <p:spPr>
          <a:xfrm>
            <a:off x="6199632" y="3520440"/>
            <a:ext cx="544068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28232" y="374904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878" y="389168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synthetic Not Leaf class?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473952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leaf-only classifier must always pick a leaf label, even for a wall or a hand. Not Leaf teaches the model that none of the above is a valid answer, and works with the 65% confidence guardrail to avoid meaningless diagnoses.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3" name="Nav link">
            <a:hlinkClick r:id="rId1" tooltip="Back to agenda" action="ppaction://hlinksldjump"/>
          </p:cNvPr>
          <p:cNvSpPr txBox="1"/>
          <p:nvPr/>
        </p:nvSpPr>
        <p:spPr>
          <a:xfrm>
            <a:off x="10149840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059669"/>
                </a:solidFill>
                <a:hlinkClick r:id="rId1" action="ppaction://hlinksldjump" tooltip="Back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Two engines, two approaches</a:t>
            </a:r>
            <a:endParaRPr lang="en-US" sz="3400" dirty="0"/>
          </a:p>
        </p:txBody>
      </p:sp>
      <p:pic>
        <p:nvPicPr>
          <p:cNvPr id="5" name="CNN architecture" descr="img/c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0160"/>
            <a:ext cx="10058400" cy="3309850"/>
          </a:xfrm>
          <a:prstGeom prst="rect">
            <a:avLst/>
          </a:prstGeom>
        </p:spPr>
      </p:pic>
      <p:sp>
        <p:nvSpPr>
          <p:cNvPr id="6" name="Custom CNN card"/>
          <p:cNvSpPr/>
          <p:nvPr/>
        </p:nvSpPr>
        <p:spPr>
          <a:xfrm>
            <a:off x="548640" y="429768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449884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629607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4498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3-block CNN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120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</a:rPr>
              <a:t>Trained from scratch, every layer updated</a:t>
            </a:r>
            <a:endParaRPr lang="en-US" sz="14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</a:rPr>
              <a:t>Conv + BatchNorm + ReLU + MaxPool, then FC 512</a:t>
            </a:r>
            <a:endParaRPr lang="en-US" sz="14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</a:rPr>
              <a:t>About 51.5 M trainable parameters</a:t>
            </a:r>
            <a:endParaRPr lang="en-US" sz="1450" dirty="0"/>
          </a:p>
        </p:txBody>
      </p:sp>
      <p:sp>
        <p:nvSpPr>
          <p:cNvPr id="11" name="ResNet card"/>
          <p:cNvSpPr/>
          <p:nvPr/>
        </p:nvSpPr>
        <p:spPr>
          <a:xfrm>
            <a:off x="6199632" y="429768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28232" y="449884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4629607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14032" y="4498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transfer learning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473952" y="5120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</a:rPr>
              <a:t>ImageNet weights, backbone frozen</a:t>
            </a:r>
            <a:endParaRPr lang="en-US" sz="14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</a:rPr>
              <a:t>New 512 to 5 linear layer is the only trained part</a:t>
            </a:r>
            <a:endParaRPr lang="en-US" sz="14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</a:rPr>
              <a:t>Only 2,565 trainable parameters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3" name="Nav link">
            <a:hlinkClick r:id="rId1" tooltip="Back to agenda" action="ppaction://hlinksldjump"/>
          </p:cNvPr>
          <p:cNvSpPr txBox="1"/>
          <p:nvPr/>
        </p:nvSpPr>
        <p:spPr>
          <a:xfrm>
            <a:off x="10149840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059669"/>
                </a:solidFill>
                <a:hlinkClick r:id="rId1" action="ppaction://hlinksldjump" tooltip="Back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Identical training for a fair comparison</a:t>
            </a:r>
            <a:endParaRPr lang="en-US" sz="3400" dirty="0"/>
          </a:p>
        </p:txBody>
      </p:sp>
      <p:sp>
        <p:nvSpPr>
          <p:cNvPr id="5" name="Setting 1"/>
          <p:cNvSpPr/>
          <p:nvPr/>
        </p:nvSpPr>
        <p:spPr>
          <a:xfrm>
            <a:off x="548640" y="141732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300" dirty="0"/>
          </a:p>
        </p:txBody>
      </p:sp>
      <p:sp>
        <p:nvSpPr>
          <p:cNvPr id="8" name="Setting 2"/>
          <p:cNvSpPr/>
          <p:nvPr/>
        </p:nvSpPr>
        <p:spPr>
          <a:xfrm>
            <a:off x="2788920" y="141732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88920" y="16002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240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0.001</a:t>
            </a:r>
            <a:endParaRPr lang="en-US" sz="1300" dirty="0"/>
          </a:p>
        </p:txBody>
      </p:sp>
      <p:sp>
        <p:nvSpPr>
          <p:cNvPr id="11" name="Setting 3"/>
          <p:cNvSpPr/>
          <p:nvPr/>
        </p:nvSpPr>
        <p:spPr>
          <a:xfrm>
            <a:off x="548640" y="292608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00" dirty="0"/>
          </a:p>
        </p:txBody>
      </p:sp>
      <p:sp>
        <p:nvSpPr>
          <p:cNvPr id="14" name="Setting 4"/>
          <p:cNvSpPr/>
          <p:nvPr/>
        </p:nvSpPr>
        <p:spPr>
          <a:xfrm>
            <a:off x="2788920" y="292608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788920" y="31089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GPU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749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300" dirty="0"/>
          </a:p>
        </p:txBody>
      </p:sp>
      <p:sp>
        <p:nvSpPr>
          <p:cNvPr id="17" name="Setting 5"/>
          <p:cNvSpPr/>
          <p:nvPr/>
        </p:nvSpPr>
        <p:spPr>
          <a:xfrm>
            <a:off x="548640" y="443484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8640" y="46177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300" dirty="0"/>
          </a:p>
        </p:txBody>
      </p:sp>
      <p:sp>
        <p:nvSpPr>
          <p:cNvPr id="20" name="Setting 6"/>
          <p:cNvSpPr/>
          <p:nvPr/>
        </p:nvSpPr>
        <p:spPr>
          <a:xfrm>
            <a:off x="2788920" y="443484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788920" y="46177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5257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kept by validation accuracy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257800" y="1280160"/>
          <a:ext cx="64008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Nav link">
            <a:hlinkClick r:id="rId1" tooltip="Back to agenda" action="ppaction://hlinksldjump"/>
          </p:cNvPr>
          <p:cNvSpPr txBox="1"/>
          <p:nvPr/>
        </p:nvSpPr>
        <p:spPr>
          <a:xfrm>
            <a:off x="10149840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059669"/>
                </a:solidFill>
                <a:hlinkClick r:id="rId1" action="ppaction://hlinksldjump" tooltip="Back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The custom CNN reaches 96.53% on unseen data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tat custom"/>
          <p:cNvSpPr/>
          <p:nvPr/>
        </p:nvSpPr>
        <p:spPr>
          <a:xfrm>
            <a:off x="6400800" y="14173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0" y="1645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 / 750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correct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743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errors</a:t>
            </a:r>
            <a:endParaRPr lang="en-US" sz="1600" dirty="0"/>
          </a:p>
        </p:txBody>
      </p:sp>
      <p:sp>
        <p:nvSpPr>
          <p:cNvPr id="10" name="Stat resnet"/>
          <p:cNvSpPr/>
          <p:nvPr/>
        </p:nvSpPr>
        <p:spPr>
          <a:xfrm>
            <a:off x="9125712" y="14173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FF7ED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125712" y="1645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706 / 750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9125712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correct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25712" y="2743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errors</a:t>
            </a:r>
            <a:endParaRPr lang="en-US" sz="1600" dirty="0"/>
          </a:p>
        </p:txBody>
      </p:sp>
      <p:sp>
        <p:nvSpPr>
          <p:cNvPr id="14" name="Takeaway panel"/>
          <p:cNvSpPr/>
          <p:nvPr/>
        </p:nvSpPr>
        <p:spPr>
          <a:xfrm>
            <a:off x="6400800" y="3703320"/>
            <a:ext cx="5239512" cy="233172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41% fewer mistakes than the frozen ResNet-18, because every layer of the custom model adapts to leaf texture and lesion shape.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" name="Nav link">
            <a:hlinkClick r:id="rId1" tooltip="Back to agenda" action="ppaction://hlinksldjump"/>
          </p:cNvPr>
          <p:cNvSpPr txBox="1"/>
          <p:nvPr/>
        </p:nvSpPr>
        <p:spPr>
          <a:xfrm>
            <a:off x="10149840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059669"/>
                </a:solidFill>
                <a:hlinkClick r:id="rId1" action="ppaction://hlinksldjump" tooltip="Back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What the results tell us</a:t>
            </a:r>
            <a:endParaRPr lang="en-US" sz="3400" dirty="0"/>
          </a:p>
        </p:txBody>
      </p:sp>
      <p:sp>
        <p:nvSpPr>
          <p:cNvPr id="5" name="Insight card 1"/>
          <p:cNvSpPr/>
          <p:nvPr/>
        </p:nvSpPr>
        <p:spPr>
          <a:xfrm>
            <a:off x="548640" y="1417320"/>
            <a:ext cx="3557016" cy="3749040"/>
          </a:xfrm>
          <a:prstGeom prst="roundRect">
            <a:avLst>
              <a:gd name="adj" fmla="val 30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" y="18818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features win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cues are local: lesion edges, rings, colour shifts. Full training lets filters specialise, while frozen ImageNet features only get re-weighted.</a:t>
            </a:r>
            <a:endParaRPr lang="en-US" sz="1450" dirty="0"/>
          </a:p>
        </p:txBody>
      </p:sp>
      <p:sp>
        <p:nvSpPr>
          <p:cNvPr id="10" name="Insight card 2"/>
          <p:cNvSpPr/>
          <p:nvPr/>
        </p:nvSpPr>
        <p:spPr>
          <a:xfrm>
            <a:off x="4315968" y="1417320"/>
            <a:ext cx="3557016" cy="3749040"/>
          </a:xfrm>
          <a:prstGeom prst="roundRect">
            <a:avLst>
              <a:gd name="adj" fmla="val 30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1691640"/>
            <a:ext cx="731520" cy="7315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483" y="18818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0288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generalisation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590288" y="32004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tracks training closely. Augmentation and dropout explain why validation can exceed training, with no strong overfitting in ten epochs.</a:t>
            </a:r>
            <a:endParaRPr lang="en-US" sz="1450" dirty="0"/>
          </a:p>
        </p:txBody>
      </p:sp>
      <p:sp>
        <p:nvSpPr>
          <p:cNvPr id="15" name="Insight card 3"/>
          <p:cNvSpPr/>
          <p:nvPr/>
        </p:nvSpPr>
        <p:spPr>
          <a:xfrm>
            <a:off x="8083296" y="1417320"/>
            <a:ext cx="3557016" cy="3749040"/>
          </a:xfrm>
          <a:prstGeom prst="roundRect">
            <a:avLst>
              <a:gd name="adj" fmla="val 30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7616" y="1691640"/>
            <a:ext cx="731520" cy="7315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811" y="188183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57616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 are safer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8357616" y="32004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agree, trust rises. When they disagree, the app asks for manual review rather than guessing.</a:t>
            </a:r>
            <a:endParaRPr lang="en-US" sz="1450" dirty="0"/>
          </a:p>
        </p:txBody>
      </p:sp>
      <p:sp>
        <p:nvSpPr>
          <p:cNvPr id="20" name="Fairness note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note: ResNet-18 was frozen, so this compares a fully trained custom model against a feature-extraction baseline, not a fine-tuned ResNet.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3" name="Nav link">
            <a:hlinkClick r:id="rId1" tooltip="Back to agenda" action="ppaction://hlinksldjump"/>
          </p:cNvPr>
          <p:cNvSpPr txBox="1"/>
          <p:nvPr/>
        </p:nvSpPr>
        <p:spPr>
          <a:xfrm>
            <a:off x="10149840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059669"/>
                </a:solidFill>
                <a:hlinkClick r:id="rId1" action="ppaction://hlinksldjump" tooltip="Back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A guarded, easy-to-use Streamlit app</a:t>
            </a:r>
            <a:endParaRPr lang="en-US" sz="3400" dirty="0"/>
          </a:p>
        </p:txBody>
      </p:sp>
      <p:sp>
        <p:nvSpPr>
          <p:cNvPr id="5" name="Feature 1"/>
          <p:cNvSpPr/>
          <p:nvPr/>
        </p:nvSpPr>
        <p:spPr>
          <a:xfrm>
            <a:off x="548640" y="1371600"/>
            <a:ext cx="355701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64592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6" y="18004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627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benchmark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on one leaf, with an agreement banner</a:t>
            </a:r>
            <a:endParaRPr lang="en-US" sz="1350" dirty="0"/>
          </a:p>
        </p:txBody>
      </p:sp>
      <p:sp>
        <p:nvSpPr>
          <p:cNvPr id="10" name="Feature 2"/>
          <p:cNvSpPr/>
          <p:nvPr/>
        </p:nvSpPr>
        <p:spPr>
          <a:xfrm>
            <a:off x="4315968" y="1371600"/>
            <a:ext cx="355701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64592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534" y="18004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67528" y="1627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safety threshold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shows Unrecognized, never a guess</a:t>
            </a:r>
            <a:endParaRPr lang="en-US" sz="1350" dirty="0"/>
          </a:p>
        </p:txBody>
      </p:sp>
      <p:sp>
        <p:nvSpPr>
          <p:cNvPr id="15" name="Feature 3"/>
          <p:cNvSpPr/>
          <p:nvPr/>
        </p:nvSpPr>
        <p:spPr>
          <a:xfrm>
            <a:off x="8083296" y="1371600"/>
            <a:ext cx="355701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164592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3862" y="18004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34856" y="1627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bars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39328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distribution across all five classes</a:t>
            </a:r>
            <a:endParaRPr lang="en-US" sz="1350" dirty="0"/>
          </a:p>
        </p:txBody>
      </p:sp>
      <p:sp>
        <p:nvSpPr>
          <p:cNvPr id="20" name="Feature 4"/>
          <p:cNvSpPr/>
          <p:nvPr/>
        </p:nvSpPr>
        <p:spPr>
          <a:xfrm>
            <a:off x="548640" y="3291840"/>
            <a:ext cx="355701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356616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6" y="372069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3547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library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804672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Signs, severity, and care for each class</a:t>
            </a:r>
            <a:endParaRPr lang="en-US" sz="1350" dirty="0"/>
          </a:p>
        </p:txBody>
      </p:sp>
      <p:sp>
        <p:nvSpPr>
          <p:cNvPr id="25" name="Feature 5"/>
          <p:cNvSpPr/>
          <p:nvPr/>
        </p:nvSpPr>
        <p:spPr>
          <a:xfrm>
            <a:off x="4315968" y="3291840"/>
            <a:ext cx="355701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356616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534" y="372069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67528" y="3547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 of every analysis, one-click clear</a:t>
            </a:r>
            <a:endParaRPr lang="en-US" sz="1350" dirty="0"/>
          </a:p>
        </p:txBody>
      </p:sp>
      <p:sp>
        <p:nvSpPr>
          <p:cNvPr id="30" name="Feature 6"/>
          <p:cNvSpPr/>
          <p:nvPr/>
        </p:nvSpPr>
        <p:spPr>
          <a:xfrm>
            <a:off x="8083296" y="3291840"/>
            <a:ext cx="355701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9328" y="356616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3862" y="372069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34856" y="3547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reports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8339328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report for any confident diagnosis</a:t>
            </a:r>
            <a:endParaRPr lang="en-US" sz="1350" dirty="0"/>
          </a:p>
        </p:txBody>
      </p:sp>
      <p:sp>
        <p:nvSpPr>
          <p:cNvPr id="35" name="Repo strip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(UI)   |   config.py (classes, threshold, guide)   |   model.py (PyTorch)   |   ui.py   |   styles.css   |   two .pth checkpoints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100" dirty="0"/>
          </a:p>
        </p:txBody>
      </p:sp>
      <p:sp>
        <p:nvSpPr>
          <p:cNvPr id="3" name="Nav link">
            <a:hlinkClick r:id="rId1" tooltip="Back to agenda" action="ppaction://hlinksldjump"/>
          </p:cNvPr>
          <p:cNvSpPr txBox="1"/>
          <p:nvPr/>
        </p:nvSpPr>
        <p:spPr>
          <a:xfrm>
            <a:off x="10149840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059669"/>
                </a:solidFill>
                <a:hlinkClick r:id="rId1" action="ppaction://hlinksldjump" tooltip="Back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Limitations and next steps</a:t>
            </a:r>
            <a:endParaRPr lang="en-US" sz="3400" dirty="0"/>
          </a:p>
        </p:txBody>
      </p:sp>
      <p:sp>
        <p:nvSpPr>
          <p:cNvPr id="5" name="Limitations card"/>
          <p:cNvSpPr/>
          <p:nvPr/>
        </p:nvSpPr>
        <p:spPr>
          <a:xfrm>
            <a:off x="548640" y="137160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27632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770278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6276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46888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</a:rPr>
              <a:t>Lab-style PlantVillage images; field photos may score lower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</a:rPr>
              <a:t>Synthetic Not Leaf is simple, so real clutter may slip through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</a:rPr>
              <a:t>One crop, three diseases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</a:rPr>
              <a:t>One split, accuracy only: no confusion matrix yet</a:t>
            </a:r>
            <a:endParaRPr lang="en-US" sz="1550" dirty="0"/>
          </a:p>
        </p:txBody>
      </p:sp>
      <p:sp>
        <p:nvSpPr>
          <p:cNvPr id="10" name="Future card"/>
          <p:cNvSpPr/>
          <p:nvPr/>
        </p:nvSpPr>
        <p:spPr>
          <a:xfrm>
            <a:off x="6199632" y="137160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1627632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98" y="177027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16276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46888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</a:rPr>
              <a:t>Fine-tune ResNet-18 for a fairer comparison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</a:rPr>
              <a:t>Per-class precision, recall, and cross-validation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</a:rPr>
              <a:t>Field images and realistic negatives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</a:rPr>
              <a:t>Multi-crop expansion: potato, pepper, corn, apple, grape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</a:rPr>
              <a:t>ONNX or mobile export for offline use, plus outbreak mapping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7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1"/>
          <p:cNvSpPr/>
          <p:nvPr/>
        </p:nvSpPr>
        <p:spPr>
          <a:xfrm>
            <a:off x="8138160" y="-2377440"/>
            <a:ext cx="6766560" cy="676656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Deco 2"/>
          <p:cNvSpPr/>
          <p:nvPr/>
        </p:nvSpPr>
        <p:spPr>
          <a:xfrm>
            <a:off x="10058400" y="-1280160"/>
            <a:ext cx="4023360" cy="402336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2200" dirty="0"/>
          </a:p>
        </p:txBody>
      </p:sp>
      <p:sp>
        <p:nvSpPr>
          <p:cNvPr id="7" name="Stat card 1"/>
          <p:cNvSpPr/>
          <p:nvPr/>
        </p:nvSpPr>
        <p:spPr>
          <a:xfrm>
            <a:off x="731520" y="32461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3213B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429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96.53%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test accuracy</a:t>
            </a:r>
            <a:endParaRPr lang="en-US" sz="1300" dirty="0"/>
          </a:p>
        </p:txBody>
      </p:sp>
      <p:sp>
        <p:nvSpPr>
          <p:cNvPr id="10" name="Stat card 2"/>
          <p:cNvSpPr/>
          <p:nvPr/>
        </p:nvSpPr>
        <p:spPr>
          <a:xfrm>
            <a:off x="3520440" y="32461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3213B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3429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94.13%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test accuracy</a:t>
            </a:r>
            <a:endParaRPr lang="en-US" sz="1300" dirty="0"/>
          </a:p>
        </p:txBody>
      </p:sp>
      <p:sp>
        <p:nvSpPr>
          <p:cNvPr id="13" name="Stat card 3"/>
          <p:cNvSpPr/>
          <p:nvPr/>
        </p:nvSpPr>
        <p:spPr>
          <a:xfrm>
            <a:off x="6309360" y="32461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3213B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3429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states recognised</a:t>
            </a:r>
            <a:endParaRPr lang="en-US" sz="1300" dirty="0"/>
          </a:p>
        </p:txBody>
      </p:sp>
      <p:sp>
        <p:nvSpPr>
          <p:cNvPr id="16" name="Stat card 4"/>
          <p:cNvSpPr/>
          <p:nvPr/>
        </p:nvSpPr>
        <p:spPr>
          <a:xfrm>
            <a:off x="9098280" y="32461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3213B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8280" y="3429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guardrail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349240"/>
            <a:ext cx="10725912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Asad Ali Sajjad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SU92-BSCSM-F23-167   |   BSCS-7A   |   7th Semester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576072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 |   Dr. Munir Ahmad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raScan">
  <a:themeElements>
    <a:clrScheme name="FloraScan">
      <a:dk1>
        <a:srgbClr val="0F172A"/>
      </a:dk1>
      <a:lt1>
        <a:srgbClr val="FFFFFF"/>
      </a:lt1>
      <a:dk2>
        <a:srgbClr val="064E3B"/>
      </a:dk2>
      <a:lt2>
        <a:srgbClr val="F8FAFC"/>
      </a:lt2>
      <a:accent1>
        <a:srgbClr val="059669"/>
      </a:accent1>
      <a:accent2>
        <a:srgbClr val="D97706"/>
      </a:accent2>
      <a:accent3>
        <a:srgbClr val="0284C7"/>
      </a:accent3>
      <a:accent4>
        <a:srgbClr val="6EE7B7"/>
      </a:accent4>
      <a:accent5>
        <a:srgbClr val="64748B"/>
      </a:accent5>
      <a:accent6>
        <a:srgbClr val="F59E0B"/>
      </a:accent6>
      <a:hlink>
        <a:srgbClr val="059669"/>
      </a:hlink>
      <a:folHlink>
        <a:srgbClr val="047857"/>
      </a:folHlink>
    </a:clrScheme>
    <a:fontScheme name="FloraSca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FloraScan AI: Smart Phytopathology System</dc:title>
  <dc:subject>Deep Learning Semester Project</dc:subject>
  <dc:creator>Asad Ali Sajjad</dc:creator>
  <cp:lastModifiedBy>Asad Ali Sajjad</cp:lastModifiedBy>
  <cp:revision>1</cp:revision>
  <dcterms:created xsi:type="dcterms:W3CDTF">2026-10-27T18:53:52Z</dcterms:created>
  <dcterms:modified xsi:type="dcterms:W3CDTF">2026-10-27T18:53:52Z</dcterms:modified>
</cp:coreProperties>
</file>